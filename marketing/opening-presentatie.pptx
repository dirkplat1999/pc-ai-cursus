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6" r:id="rId17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Welkom iedereen. Stel jezelf voor en heet de groep welkom bij de eerste bijeenkomst van de PC &amp; AI Cursus.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Loop kort het programma door zodat iedereen weet wat te verwachten.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Vertel kort waarom dit initiatief bestaat en wat je hoopt dat mensen eraan overhouden.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Benoem dat het platform achter de schermen twee tempo’s ondersteunt, maar richting de groep gaat het gewoon om: iedereen kan meedoen.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Loop kort elk van de vijf onderwerpen langs. Benoem dat de volgorde bewust is: van basis naar veiligheid naar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Laat eventueel live zien hoe een les eruitziet, met de Volgende-knop en een oefenstap.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Benadruk vooral de Help-knop: niemand hoeft vast te blijven zitten.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Computercursus &amp; AI, deel 1 op 30 september 2026 en deel 2 op 28 oktober 2026, in Buurthuis Nieuwediep 117.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Dit is bewust geen strenge regellijst maar een geruststelling: fouten maken mag, vragen stellen mag altijd.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Sluit af en help iedereen om nu daadwerkelijk in te loggen op het platform.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37276" y="960120"/>
            <a:ext cx="914400" cy="914400"/>
          </a:xfrm>
          <a:prstGeom prst="ellipse">
            <a:avLst/>
          </a:prstGeom>
          <a:solidFill>
            <a:srgbClr val="E2872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11012" y="1133856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214884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 &amp; AI Cursus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0" y="3200400"/>
            <a:ext cx="12188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FC6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Welkom bij de opening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975104" y="5943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8FC6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Stap voor stap leren omgaan met computer, internet en AI — in je eigen tempo.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F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2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VANDAAG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 gaan we vandaag doen?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512064" cy="512064"/>
          </a:xfrm>
          <a:prstGeom prst="ellipse">
            <a:avLst/>
          </a:prstGeom>
          <a:solidFill>
            <a:srgbClr val="1C6E76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600200" y="1892808"/>
            <a:ext cx="7772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Welkom &amp; kennismaking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2715768"/>
            <a:ext cx="512064" cy="512064"/>
          </a:xfrm>
          <a:prstGeom prst="ellipse">
            <a:avLst/>
          </a:prstGeom>
          <a:solidFill>
            <a:srgbClr val="1C6E76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7157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600200" y="2734056"/>
            <a:ext cx="7772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Waarom deze cursus, en voor wie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22960" y="3557016"/>
            <a:ext cx="512064" cy="512064"/>
          </a:xfrm>
          <a:prstGeom prst="ellipse">
            <a:avLst/>
          </a:prstGeom>
          <a:solidFill>
            <a:srgbClr val="1C6E76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5570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600200" y="3575304"/>
            <a:ext cx="7772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vijf onderwerpen die we behandelen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22960" y="4398264"/>
            <a:ext cx="512064" cy="512064"/>
          </a:xfrm>
          <a:prstGeom prst="ellipse">
            <a:avLst/>
          </a:prstGeom>
          <a:solidFill>
            <a:srgbClr val="1C6E76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39826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600200" y="4416552"/>
            <a:ext cx="7772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Hoe het platform werkt — inloggen, lessen, hulp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22960" y="5239512"/>
            <a:ext cx="512064" cy="512064"/>
          </a:xfrm>
          <a:prstGeom prst="ellipse">
            <a:avLst/>
          </a:prstGeom>
          <a:solidFill>
            <a:srgbClr val="1C6E76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52395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600200" y="5257800"/>
            <a:ext cx="7772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Samen de eerste stap zetten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915400" y="1874520"/>
            <a:ext cx="2651760" cy="40233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72600" y="2240280"/>
            <a:ext cx="548640" cy="548640"/>
          </a:xfrm>
          <a:prstGeom prst="ellipse">
            <a:avLst/>
          </a:prstGeom>
          <a:solidFill>
            <a:srgbClr val="5B8A63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4274" y="2371954"/>
            <a:ext cx="285293" cy="285293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189720" y="29260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Duur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9189720" y="3246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5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ongeveer 1,5 uur, met een korte pauze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9189720" y="38862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Meenemen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9189720" y="420624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55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 laptop, tablet of telefoon. Laptop of tablet werkt het makkelijkst, vanwege het grotere scherm.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F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2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WAAROM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Waarom deze cursus?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5760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455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Computers, internet en AI horen steeds meer bij het dagelijks leven — van bankzaken tot contact met familie. Deze cursus geeft je de tijd en ruimte om daar zelfverzekerd mee om te leren gaan, zonder haast en zonder domme vragen.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949440" y="1783080"/>
            <a:ext cx="566928" cy="566928"/>
          </a:xfrm>
          <a:prstGeom prst="ellipse">
            <a:avLst/>
          </a:prstGeom>
          <a:solidFill>
            <a:srgbClr val="1C6E7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5503" y="1919143"/>
            <a:ext cx="294803" cy="294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0960" y="17647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 tempo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680960" y="209397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5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 stapjes, geen overprikkeling.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949440" y="2834640"/>
            <a:ext cx="566928" cy="566928"/>
          </a:xfrm>
          <a:prstGeom prst="ellipse">
            <a:avLst/>
          </a:prstGeom>
          <a:solidFill>
            <a:srgbClr val="1C6E76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5503" y="2970703"/>
            <a:ext cx="294803" cy="29480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680960" y="28163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hulp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7680960" y="314553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5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tik en de docent staat naast je.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949440" y="3886200"/>
            <a:ext cx="566928" cy="566928"/>
          </a:xfrm>
          <a:prstGeom prst="ellipse">
            <a:avLst/>
          </a:prstGeom>
          <a:solidFill>
            <a:srgbClr val="1C6E76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5503" y="4022263"/>
            <a:ext cx="294803" cy="294803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680960" y="386791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 te volgen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7680960" y="419709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5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de pc, tablet of telefoon.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F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2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MAAT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Voor jong én oud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455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Deze cursus is zo opgezet dat iedereen mee kan doen. De uitleg sluit aan bij jouw tempo en niveau — of je nu net begint, of al aardig op weg bent.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0956" y="2880360"/>
            <a:ext cx="338328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0996" y="3200400"/>
            <a:ext cx="621792" cy="621792"/>
          </a:xfrm>
          <a:prstGeom prst="ellipse">
            <a:avLst/>
          </a:prstGeom>
          <a:solidFill>
            <a:srgbClr val="1C6E7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0226" y="3349630"/>
            <a:ext cx="323332" cy="3233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83564" y="397764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Geen voorkennis nodig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1083564" y="46177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55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beginnen bij de basis en bouwen rustig op.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402836" y="2880360"/>
            <a:ext cx="338328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22876" y="3200400"/>
            <a:ext cx="621792" cy="621792"/>
          </a:xfrm>
          <a:prstGeom prst="ellipse">
            <a:avLst/>
          </a:prstGeom>
          <a:solidFill>
            <a:srgbClr val="5B8A63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2106" y="3349630"/>
            <a:ext cx="323332" cy="3233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95444" y="397764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Jouw niveau, jouw uitleg</a:t>
            </a:r>
            <a:endParaRPr lang="en-US" sz="1650" dirty="0"/>
          </a:p>
        </p:txBody>
      </p:sp>
      <p:sp>
        <p:nvSpPr>
          <p:cNvPr id="14" name="Text 10"/>
          <p:cNvSpPr/>
          <p:nvPr/>
        </p:nvSpPr>
        <p:spPr>
          <a:xfrm>
            <a:off x="4695444" y="46177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55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docent stemt de diepgang af op wie er zit.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014716" y="2880360"/>
            <a:ext cx="338328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34756" y="3200400"/>
            <a:ext cx="621792" cy="621792"/>
          </a:xfrm>
          <a:prstGeom prst="ellipse">
            <a:avLst/>
          </a:prstGeom>
          <a:solidFill>
            <a:srgbClr val="1C6E76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3986" y="3349630"/>
            <a:ext cx="323332" cy="32333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07324" y="397764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Vragen mag altijd</a:t>
            </a:r>
            <a:endParaRPr lang="en-US" sz="1650" dirty="0"/>
          </a:p>
        </p:txBody>
      </p:sp>
      <p:sp>
        <p:nvSpPr>
          <p:cNvPr id="19" name="Text 14"/>
          <p:cNvSpPr/>
          <p:nvPr/>
        </p:nvSpPr>
        <p:spPr>
          <a:xfrm>
            <a:off x="8307324" y="46177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55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je vast? Steek je hand op, of gebruik de Help-knop.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F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2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AVOND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Avond 1: vijf onderwerpen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6052" y="1600200"/>
            <a:ext cx="2139696" cy="42976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257300" y="1920240"/>
            <a:ext cx="457200" cy="457200"/>
          </a:xfrm>
          <a:prstGeom prst="ellipse">
            <a:avLst/>
          </a:prstGeom>
          <a:solidFill>
            <a:srgbClr val="E2872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25730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156716" y="2560320"/>
            <a:ext cx="658368" cy="658368"/>
          </a:xfrm>
          <a:prstGeom prst="ellipse">
            <a:avLst/>
          </a:prstGeom>
          <a:solidFill>
            <a:srgbClr val="1C6E76"/>
          </a:solidFill>
          <a:ln/>
        </p:spPr>
        <p:txBody>
          <a:bodyPr/>
          <a:p/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1308" y="2724912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25780" y="347472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Computer- &amp; Internetbasis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53212" y="4480560"/>
            <a:ext cx="18653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55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E-mailen, bijlagen, navigeren, videobellen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720340" y="1600200"/>
            <a:ext cx="2139696" cy="42976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3561588" y="1920240"/>
            <a:ext cx="457200" cy="457200"/>
          </a:xfrm>
          <a:prstGeom prst="ellipse">
            <a:avLst/>
          </a:prstGeom>
          <a:solidFill>
            <a:srgbClr val="E2872F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3561588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461004" y="2560320"/>
            <a:ext cx="658368" cy="658368"/>
          </a:xfrm>
          <a:prstGeom prst="ellipse">
            <a:avLst/>
          </a:prstGeom>
          <a:solidFill>
            <a:srgbClr val="1C6E76"/>
          </a:solidFill>
          <a:ln/>
        </p:spPr>
        <p:txBody>
          <a:bodyPr/>
          <a:p/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5596" y="2724912"/>
            <a:ext cx="329184" cy="32918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830068" y="347472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Praktische Apps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2857500" y="4480560"/>
            <a:ext cx="18653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55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Maps, Marktplaats, Funda, 9292, Facebook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024628" y="1600200"/>
            <a:ext cx="2139696" cy="42976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  <p:txBody>
          <a:bodyPr/>
          <a:p/>
        </p:txBody>
      </p:sp>
      <p:sp>
        <p:nvSpPr>
          <p:cNvPr id="19" name="Shape 15"/>
          <p:cNvSpPr/>
          <p:nvPr/>
        </p:nvSpPr>
        <p:spPr>
          <a:xfrm>
            <a:off x="5865876" y="1920240"/>
            <a:ext cx="457200" cy="457200"/>
          </a:xfrm>
          <a:prstGeom prst="ellipse">
            <a:avLst/>
          </a:prstGeom>
          <a:solidFill>
            <a:srgbClr val="E2872F"/>
          </a:solidFill>
          <a:ln/>
        </p:spPr>
        <p:txBody>
          <a:bodyPr/>
          <a:p/>
        </p:txBody>
      </p:sp>
      <p:sp>
        <p:nvSpPr>
          <p:cNvPr id="20" name="Text 16"/>
          <p:cNvSpPr/>
          <p:nvPr/>
        </p:nvSpPr>
        <p:spPr>
          <a:xfrm>
            <a:off x="5865876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765292" y="2560320"/>
            <a:ext cx="658368" cy="658368"/>
          </a:xfrm>
          <a:prstGeom prst="ellipse">
            <a:avLst/>
          </a:prstGeom>
          <a:solidFill>
            <a:srgbClr val="1C6E76"/>
          </a:solidFill>
          <a:ln/>
        </p:spPr>
        <p:txBody>
          <a:bodyPr/>
          <a:p/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9884" y="2724912"/>
            <a:ext cx="329184" cy="32918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134356" y="347472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Overheid &amp; Veiligheid</a:t>
            </a:r>
            <a:endParaRPr lang="en-US" sz="1450" dirty="0"/>
          </a:p>
        </p:txBody>
      </p:sp>
      <p:sp>
        <p:nvSpPr>
          <p:cNvPr id="24" name="Text 19"/>
          <p:cNvSpPr/>
          <p:nvPr/>
        </p:nvSpPr>
        <p:spPr>
          <a:xfrm>
            <a:off x="5161788" y="4480560"/>
            <a:ext cx="18653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55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DigiD, bankieren, phishing, wachtwoorden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7328916" y="1600200"/>
            <a:ext cx="2139696" cy="42976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  <p:txBody>
          <a:bodyPr/>
          <a:p/>
        </p:txBody>
      </p:sp>
      <p:sp>
        <p:nvSpPr>
          <p:cNvPr id="26" name="Shape 21"/>
          <p:cNvSpPr/>
          <p:nvPr/>
        </p:nvSpPr>
        <p:spPr>
          <a:xfrm>
            <a:off x="8170164" y="1920240"/>
            <a:ext cx="457200" cy="457200"/>
          </a:xfrm>
          <a:prstGeom prst="ellipse">
            <a:avLst/>
          </a:prstGeom>
          <a:solidFill>
            <a:srgbClr val="E2872F"/>
          </a:solidFill>
          <a:ln/>
        </p:spPr>
        <p:txBody>
          <a:bodyPr/>
          <a:p/>
        </p:txBody>
      </p:sp>
      <p:sp>
        <p:nvSpPr>
          <p:cNvPr id="27" name="Text 22"/>
          <p:cNvSpPr/>
          <p:nvPr/>
        </p:nvSpPr>
        <p:spPr>
          <a:xfrm>
            <a:off x="8170164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Shape 23"/>
          <p:cNvSpPr/>
          <p:nvPr/>
        </p:nvSpPr>
        <p:spPr>
          <a:xfrm>
            <a:off x="8069580" y="2560320"/>
            <a:ext cx="658368" cy="658368"/>
          </a:xfrm>
          <a:prstGeom prst="ellipse">
            <a:avLst/>
          </a:prstGeom>
          <a:solidFill>
            <a:srgbClr val="1C6E76"/>
          </a:solidFill>
          <a:ln/>
        </p:spPr>
        <p:txBody>
          <a:bodyPr/>
          <a:p/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4172" y="2724912"/>
            <a:ext cx="329184" cy="329184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7438644" y="347472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AI-gebruik &amp; Ethiek</a:t>
            </a:r>
            <a:endParaRPr lang="en-US" sz="1450" dirty="0"/>
          </a:p>
        </p:txBody>
      </p:sp>
      <p:sp>
        <p:nvSpPr>
          <p:cNvPr id="31" name="Text 25"/>
          <p:cNvSpPr/>
          <p:nvPr/>
        </p:nvSpPr>
        <p:spPr>
          <a:xfrm>
            <a:off x="7466076" y="4480560"/>
            <a:ext cx="18653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55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ChatGPT, Gemini, slim prompten, grenzen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9633204" y="1600200"/>
            <a:ext cx="2139696" cy="42976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  <p:txBody>
          <a:bodyPr/>
          <a:p/>
        </p:txBody>
      </p:sp>
      <p:sp>
        <p:nvSpPr>
          <p:cNvPr id="33" name="Shape 27"/>
          <p:cNvSpPr/>
          <p:nvPr/>
        </p:nvSpPr>
        <p:spPr>
          <a:xfrm>
            <a:off x="10474452" y="1920240"/>
            <a:ext cx="457200" cy="457200"/>
          </a:xfrm>
          <a:prstGeom prst="ellipse">
            <a:avLst/>
          </a:prstGeom>
          <a:solidFill>
            <a:srgbClr val="E2872F"/>
          </a:solidFill>
          <a:ln/>
        </p:spPr>
        <p:txBody>
          <a:bodyPr/>
          <a:p/>
        </p:txBody>
      </p:sp>
      <p:sp>
        <p:nvSpPr>
          <p:cNvPr id="34" name="Text 28"/>
          <p:cNvSpPr/>
          <p:nvPr/>
        </p:nvSpPr>
        <p:spPr>
          <a:xfrm>
            <a:off x="10474452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35" name="Shape 29"/>
          <p:cNvSpPr/>
          <p:nvPr/>
        </p:nvSpPr>
        <p:spPr>
          <a:xfrm>
            <a:off x="10373868" y="2560320"/>
            <a:ext cx="658368" cy="658368"/>
          </a:xfrm>
          <a:prstGeom prst="ellipse">
            <a:avLst/>
          </a:prstGeom>
          <a:solidFill>
            <a:srgbClr val="1C6E76"/>
          </a:solidFill>
          <a:ln/>
        </p:spPr>
        <p:txBody>
          <a:bodyPr/>
          <a:p/>
        </p:txBody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38460" y="2724912"/>
            <a:ext cx="329184" cy="329184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9742932" y="347472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Digitale Handigheidjes</a:t>
            </a:r>
            <a:endParaRPr lang="en-US" sz="1450" dirty="0"/>
          </a:p>
        </p:txBody>
      </p:sp>
      <p:sp>
        <p:nvSpPr>
          <p:cNvPr id="38" name="Text 31"/>
          <p:cNvSpPr/>
          <p:nvPr/>
        </p:nvSpPr>
        <p:spPr>
          <a:xfrm>
            <a:off x="9770364" y="4480560"/>
            <a:ext cx="18653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55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E-readers, cloud-foto’s, wachtwoordmanager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F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2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WERKWIJZE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Hoe ziet een les eruit?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651760"/>
            <a:ext cx="1920240" cy="2103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48740" y="2907792"/>
            <a:ext cx="502920" cy="502920"/>
          </a:xfrm>
          <a:prstGeom prst="ellipse">
            <a:avLst/>
          </a:prstGeom>
          <a:solidFill>
            <a:srgbClr val="1C6E76"/>
          </a:solidFill>
          <a:ln/>
        </p:spPr>
      </p:sp>
      <p:sp>
        <p:nvSpPr>
          <p:cNvPr id="6" name="Text 4"/>
          <p:cNvSpPr/>
          <p:nvPr/>
        </p:nvSpPr>
        <p:spPr>
          <a:xfrm>
            <a:off x="1348740" y="29077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49808" y="361188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een module</a:t>
            </a:r>
            <a:endParaRPr lang="en-US" sz="13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04897" y="3584448"/>
            <a:ext cx="237744" cy="23774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2887218" y="2651760"/>
            <a:ext cx="1920240" cy="2103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95878" y="2907792"/>
            <a:ext cx="502920" cy="502920"/>
          </a:xfrm>
          <a:prstGeom prst="ellipse">
            <a:avLst/>
          </a:prstGeom>
          <a:solidFill>
            <a:srgbClr val="1C6E76"/>
          </a:solidFill>
          <a:ln/>
        </p:spPr>
      </p:sp>
      <p:sp>
        <p:nvSpPr>
          <p:cNvPr id="11" name="Text 8"/>
          <p:cNvSpPr/>
          <p:nvPr/>
        </p:nvSpPr>
        <p:spPr>
          <a:xfrm>
            <a:off x="3595878" y="29077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2996946" y="361188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Lees &amp; bekijk de stap</a:t>
            </a:r>
            <a:endParaRPr lang="en-US" sz="13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035" y="3584448"/>
            <a:ext cx="237744" cy="237744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134356" y="2651760"/>
            <a:ext cx="1920240" cy="2103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843016" y="2907792"/>
            <a:ext cx="502920" cy="502920"/>
          </a:xfrm>
          <a:prstGeom prst="ellipse">
            <a:avLst/>
          </a:prstGeom>
          <a:solidFill>
            <a:srgbClr val="1C6E76"/>
          </a:solidFill>
          <a:ln/>
        </p:spPr>
      </p:sp>
      <p:sp>
        <p:nvSpPr>
          <p:cNvPr id="16" name="Text 12"/>
          <p:cNvSpPr/>
          <p:nvPr/>
        </p:nvSpPr>
        <p:spPr>
          <a:xfrm>
            <a:off x="5843016" y="29077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5244084" y="361188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Oefen op de echte site</a:t>
            </a:r>
            <a:endParaRPr lang="en-US" sz="130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9173" y="3584448"/>
            <a:ext cx="237744" cy="237744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7381494" y="2651760"/>
            <a:ext cx="1920240" cy="2103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090154" y="2907792"/>
            <a:ext cx="502920" cy="502920"/>
          </a:xfrm>
          <a:prstGeom prst="ellipse">
            <a:avLst/>
          </a:prstGeom>
          <a:solidFill>
            <a:srgbClr val="1C6E76"/>
          </a:solidFill>
          <a:ln/>
        </p:spPr>
      </p:sp>
      <p:sp>
        <p:nvSpPr>
          <p:cNvPr id="21" name="Text 16"/>
          <p:cNvSpPr/>
          <p:nvPr/>
        </p:nvSpPr>
        <p:spPr>
          <a:xfrm>
            <a:off x="8090154" y="29077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17"/>
          <p:cNvSpPr/>
          <p:nvPr/>
        </p:nvSpPr>
        <p:spPr>
          <a:xfrm>
            <a:off x="7491222" y="361188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Klik op ‘Volgende’</a:t>
            </a:r>
            <a:endParaRPr lang="en-US" sz="130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6311" y="3584448"/>
            <a:ext cx="237744" cy="237744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9628632" y="2651760"/>
            <a:ext cx="1920240" cy="2103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10337292" y="2907792"/>
            <a:ext cx="502920" cy="502920"/>
          </a:xfrm>
          <a:prstGeom prst="ellipse">
            <a:avLst/>
          </a:prstGeom>
          <a:solidFill>
            <a:srgbClr val="E2872F"/>
          </a:solidFill>
          <a:ln/>
        </p:spPr>
      </p:sp>
      <p:sp>
        <p:nvSpPr>
          <p:cNvPr id="26" name="Text 20"/>
          <p:cNvSpPr/>
          <p:nvPr/>
        </p:nvSpPr>
        <p:spPr>
          <a:xfrm>
            <a:off x="10337292" y="29077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1"/>
          <p:cNvSpPr/>
          <p:nvPr/>
        </p:nvSpPr>
        <p:spPr>
          <a:xfrm>
            <a:off x="9738360" y="361188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Herhaal tot de module klaar is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640080" y="5120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455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 bouw je rustig op, met steeds één duidelijke taak per scherm.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F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2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 IEDEREEN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Hulp &amp; toegankelijkheid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1208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345436"/>
            <a:ext cx="658368" cy="658368"/>
          </a:xfrm>
          <a:prstGeom prst="ellipse">
            <a:avLst/>
          </a:prstGeom>
          <a:solidFill>
            <a:srgbClr val="5B8A6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5100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208483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Help-knop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783080" y="25146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55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tik en de docent krijgt direct een melding tijdens de les.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36792" y="1828800"/>
            <a:ext cx="521208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29400" y="2345436"/>
            <a:ext cx="658368" cy="658368"/>
          </a:xfrm>
          <a:prstGeom prst="ellipse">
            <a:avLst/>
          </a:prstGeom>
          <a:solidFill>
            <a:srgbClr val="5B8A6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3992" y="251002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79792" y="208483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Voorlezen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7479792" y="25146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55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Elke lesstap kan hardop worden voorgelezen.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40080" y="3840480"/>
            <a:ext cx="521208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32688" y="4357116"/>
            <a:ext cx="658368" cy="658368"/>
          </a:xfrm>
          <a:prstGeom prst="ellipse">
            <a:avLst/>
          </a:prstGeom>
          <a:solidFill>
            <a:srgbClr val="5B8A6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52170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83080" y="409651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Lettergrootte &amp; contrast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783080" y="45262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55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Zelf aan te passen, boven in elk scherm.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336792" y="3840480"/>
            <a:ext cx="521208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629400" y="4357116"/>
            <a:ext cx="658368" cy="658368"/>
          </a:xfrm>
          <a:prstGeom prst="ellipse">
            <a:avLst/>
          </a:prstGeom>
          <a:solidFill>
            <a:srgbClr val="5B8A63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992" y="4521708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79792" y="409651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talen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479792" y="45262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55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Nederlands, Engels of Duits — eigen keuze.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F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2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PRAKTISCH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Praktische afspraken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60120" y="196596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749040" y="196596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Buurthuis Nieuwediep 117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999232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60120" y="299923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Wanneer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749040" y="2999232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1: 30 sept. 2026 — module 1–5     ·     Deel 2: 28 okt. 2026 — module 6–9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4032504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60120" y="4032504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Meenemen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749040" y="4032504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 laptop, tablet of telefoon — laptop of tablet werkt het makkelijkst, vanwege het grotere scherm.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5065776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60120" y="5065776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Inloggegevens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749040" y="5065776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Elke cursist krijgt een eigen gebruikersnaam en wachtwoord.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F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2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ELKAAR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Prettig samen leren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1C6E7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116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892808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Rustig aan — iedereen leert in zijn eigen tempo, dat is precies de bedoeling.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731520" y="2880360"/>
            <a:ext cx="457200" cy="457200"/>
          </a:xfrm>
          <a:prstGeom prst="ellipse">
            <a:avLst/>
          </a:prstGeom>
          <a:solidFill>
            <a:srgbClr val="1C6E7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971800"/>
            <a:ext cx="274320" cy="274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17320" y="2852928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‘domme vragen’ — als jij het je afvraagt, vraagt een ander het zich ook af.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731520" y="3840480"/>
            <a:ext cx="457200" cy="457200"/>
          </a:xfrm>
          <a:prstGeom prst="ellipse">
            <a:avLst/>
          </a:prstGeom>
          <a:solidFill>
            <a:srgbClr val="1C6E76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931920"/>
            <a:ext cx="274320" cy="2743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417320" y="3813048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elkaar gerust — samen dingen uitzoeken mag altijd.</a:t>
            </a:r>
            <a:endParaRPr lang="en-US" sz="1700" dirty="0"/>
          </a:p>
        </p:txBody>
      </p:sp>
      <p:sp>
        <p:nvSpPr>
          <p:cNvPr id="13" name="Shape 8"/>
          <p:cNvSpPr/>
          <p:nvPr/>
        </p:nvSpPr>
        <p:spPr>
          <a:xfrm>
            <a:off x="731520" y="4800600"/>
            <a:ext cx="457200" cy="457200"/>
          </a:xfrm>
          <a:prstGeom prst="ellipse">
            <a:avLst/>
          </a:prstGeom>
          <a:solidFill>
            <a:srgbClr val="1C6E76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892040"/>
            <a:ext cx="274320" cy="27432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417320" y="4773168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 je er niet uit? Gebruik de Help-knop — daar is die voor.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3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05856" y="777240"/>
            <a:ext cx="777240" cy="777240"/>
          </a:xfrm>
          <a:prstGeom prst="ellipse">
            <a:avLst/>
          </a:prstGeom>
          <a:solidFill>
            <a:srgbClr val="E2872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61304" y="932688"/>
            <a:ext cx="466344" cy="4663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178308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Laten we beginnen!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1371600" y="278892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FC6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in met de gebruikersnaam en het wachtwoord die je hebt gekregen.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261104" y="3520440"/>
            <a:ext cx="3657600" cy="777240"/>
          </a:xfrm>
          <a:prstGeom prst="roundRect">
            <a:avLst>
              <a:gd name="adj" fmla="val 14118"/>
            </a:avLst>
          </a:prstGeom>
          <a:solidFill>
            <a:srgbClr val="E2872F"/>
          </a:solidFill>
          <a:ln/>
        </p:spPr>
      </p:sp>
      <p:sp>
        <p:nvSpPr>
          <p:cNvPr id="7" name="Text 4"/>
          <p:cNvSpPr/>
          <p:nvPr/>
        </p:nvSpPr>
        <p:spPr>
          <a:xfrm>
            <a:off x="4261104" y="35204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adres in te vullen —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371600" y="466344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8FC6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 je er niet uit? Steek je hand op, of tik op de Help-knop.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124E54"/>
                </a:solidFill>
                <a:latin typeface="Calibri"/>
              </a:rPr>
              <a:t>AVOND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>
                <a:solidFill>
                  <a:srgbClr val="17323A"/>
                </a:solidFill>
                <a:latin typeface="Cambria"/>
              </a:rPr>
              <a:t>Avond 2: het vervolg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568196" y="1600200"/>
            <a:ext cx="2139696" cy="42976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CE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09444" y="1920240"/>
            <a:ext cx="457200" cy="457200"/>
          </a:xfrm>
          <a:prstGeom prst="ellipse">
            <a:avLst/>
          </a:prstGeom>
          <a:solidFill>
            <a:srgbClr val="E2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409444" y="19202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7" name="Oval 6"/>
          <p:cNvSpPr/>
          <p:nvPr/>
        </p:nvSpPr>
        <p:spPr>
          <a:xfrm>
            <a:off x="2308860" y="2560320"/>
            <a:ext cx="658368" cy="658368"/>
          </a:xfrm>
          <a:prstGeom prst="ellipse">
            <a:avLst/>
          </a:prstGeom>
          <a:solidFill>
            <a:srgbClr val="1C6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m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3452" y="2724912"/>
            <a:ext cx="329184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77924" y="3474720"/>
            <a:ext cx="19202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50" b="1">
                <a:solidFill>
                  <a:srgbClr val="17323A"/>
                </a:solidFill>
                <a:latin typeface="Cambria"/>
              </a:rPr>
              <a:t>Foto's &amp; Video's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05356" y="4480560"/>
            <a:ext cx="186537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45585C"/>
                </a:solidFill>
                <a:latin typeface="Calibri"/>
              </a:rPr>
              <a:t>Maken, bewerken, albums, delen met familie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72484" y="1600200"/>
            <a:ext cx="2139696" cy="42976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CE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713732" y="1920240"/>
            <a:ext cx="457200" cy="457200"/>
          </a:xfrm>
          <a:prstGeom prst="ellipse">
            <a:avLst/>
          </a:prstGeom>
          <a:solidFill>
            <a:srgbClr val="E2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3732" y="19202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7</a:t>
            </a:r>
          </a:p>
        </p:txBody>
      </p:sp>
      <p:sp>
        <p:nvSpPr>
          <p:cNvPr id="14" name="Oval 13"/>
          <p:cNvSpPr/>
          <p:nvPr/>
        </p:nvSpPr>
        <p:spPr>
          <a:xfrm>
            <a:off x="4613148" y="2560320"/>
            <a:ext cx="658368" cy="658368"/>
          </a:xfrm>
          <a:prstGeom prst="ellipse">
            <a:avLst/>
          </a:prstGeom>
          <a:solidFill>
            <a:srgbClr val="1C6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hopping-b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7740" y="2724912"/>
            <a:ext cx="329184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82212" y="3474720"/>
            <a:ext cx="19202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50" b="1">
                <a:solidFill>
                  <a:srgbClr val="17323A"/>
                </a:solidFill>
                <a:latin typeface="Cambria"/>
              </a:rPr>
              <a:t>Veilig Online Winkelen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09644" y="4480560"/>
            <a:ext cx="186537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45585C"/>
                </a:solidFill>
                <a:latin typeface="Calibri"/>
              </a:rPr>
              <a:t>Betrouwbare shops, veilig betalen, bezorging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6772" y="1600200"/>
            <a:ext cx="2139696" cy="42976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CE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18020" y="1920240"/>
            <a:ext cx="457200" cy="457200"/>
          </a:xfrm>
          <a:prstGeom prst="ellipse">
            <a:avLst/>
          </a:prstGeom>
          <a:solidFill>
            <a:srgbClr val="E2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18020" y="19202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8</a:t>
            </a:r>
          </a:p>
        </p:txBody>
      </p:sp>
      <p:sp>
        <p:nvSpPr>
          <p:cNvPr id="21" name="Oval 20"/>
          <p:cNvSpPr/>
          <p:nvPr/>
        </p:nvSpPr>
        <p:spPr>
          <a:xfrm>
            <a:off x="6917436" y="2560320"/>
            <a:ext cx="658368" cy="658368"/>
          </a:xfrm>
          <a:prstGeom prst="ellipse">
            <a:avLst/>
          </a:prstGeom>
          <a:solidFill>
            <a:srgbClr val="1C6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parkl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2028" y="2724912"/>
            <a:ext cx="329184" cy="32918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86500" y="3474720"/>
            <a:ext cx="19202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50" b="1">
                <a:solidFill>
                  <a:srgbClr val="17323A"/>
                </a:solidFill>
                <a:latin typeface="Cambria"/>
              </a:rPr>
              <a:t>Slimme Telefoon &amp; 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3932" y="4480560"/>
            <a:ext cx="186537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45585C"/>
                </a:solidFill>
                <a:latin typeface="Calibri"/>
              </a:rPr>
              <a:t>Instellingen, apps, AI voor alledaagse vragen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81060" y="1600200"/>
            <a:ext cx="2139696" cy="42976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CE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322308" y="1920240"/>
            <a:ext cx="457200" cy="457200"/>
          </a:xfrm>
          <a:prstGeom prst="ellipse">
            <a:avLst/>
          </a:prstGeom>
          <a:solidFill>
            <a:srgbClr val="E2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2308" y="19202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9</a:t>
            </a:r>
          </a:p>
        </p:txBody>
      </p:sp>
      <p:sp>
        <p:nvSpPr>
          <p:cNvPr id="28" name="Oval 27"/>
          <p:cNvSpPr/>
          <p:nvPr/>
        </p:nvSpPr>
        <p:spPr>
          <a:xfrm>
            <a:off x="9221724" y="2560320"/>
            <a:ext cx="658368" cy="658368"/>
          </a:xfrm>
          <a:prstGeom prst="ellipse">
            <a:avLst/>
          </a:prstGeom>
          <a:solidFill>
            <a:srgbClr val="1C6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sea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86316" y="2724912"/>
            <a:ext cx="329184" cy="32918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590788" y="3474720"/>
            <a:ext cx="19202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50" b="1">
                <a:solidFill>
                  <a:srgbClr val="17323A"/>
                </a:solidFill>
                <a:latin typeface="Cambria"/>
              </a:rPr>
              <a:t>Nepnieuws Herkennen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18220" y="4480560"/>
            <a:ext cx="186537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45585C"/>
                </a:solidFill>
                <a:latin typeface="Calibri"/>
              </a:rPr>
              <a:t>Een bron checken, nep van echt onderscheiden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2026-08-19T21:58:02Z</dcterms:created>
  <dcterms:modified xsi:type="dcterms:W3CDTF">2026-08-19T21:58:02Z</dcterms:modified>
</cp:coreProperties>
</file>