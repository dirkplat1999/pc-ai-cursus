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17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iedereen. Stel jezelf voor en heet de groep welkom bij de eerste bijeenkomst van de PC &amp; AI Cursus.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kort het programma door zodat iedereen weet wat te verwachten.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Vertel kort waarom dit initiatief bestaat en wat je hoopt dat mensen eraan overhouden.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Benoem dat het platform achter de schermen drie niveaus ondersteunt, maar richting de groep gaat het gewoon om: iedereen kan meedoen.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kort elk van de vijf onderwerpen langs. Benoem dat de volgorde bewust is: van basis naar veiligheid naar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eventueel live zien hoe een les eruitziet, met de Volgende-knop en een oefenstap.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Benadruk vooral de Help-knop: niemand hoeft vast te blijven zitten.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Computercursus &amp; AI, deel 1 op 30 september 2026 en deel 2 op 28 oktober 2026, in Buurthuis Nieuwediep 117.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bewust geen strenge regellijst maar een geruststelling: fouten maken mag, vragen stellen mag altijd.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en help iedereen om nu daadwerkelijk in te loggen op het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960120"/>
            <a:ext cx="914400" cy="914400"/>
          </a:xfrm>
          <a:prstGeom prst="ellipse">
            <a:avLst/>
          </a:prstGeom>
          <a:solidFill>
            <a:srgbClr val="E287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012" y="1133856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&amp; AI Cursus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Welkom bij de opening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975104" y="5943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voor stap leren omgaan met computer, internet en AI — in je eigen tempo.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gaan we vandaag doen?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" cy="512064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89280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Welkom &amp; kennismaking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715768"/>
            <a:ext cx="512064" cy="512064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73405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deze cursus, en voor wie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557016"/>
            <a:ext cx="512064" cy="512064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57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57530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onderwerpen die we behandelen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398264"/>
            <a:ext cx="512064" cy="512064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98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4165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het platform werkt — inloggen, lessen, hulp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239512"/>
            <a:ext cx="512064" cy="512064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39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525780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de eerste stap zetten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15400" y="1874520"/>
            <a:ext cx="2651760" cy="40233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240280"/>
            <a:ext cx="548640" cy="548640"/>
          </a:xfrm>
          <a:prstGeom prst="ellipse">
            <a:avLst/>
          </a:prstGeom>
          <a:solidFill>
            <a:srgbClr val="5B8A6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4274" y="2371954"/>
            <a:ext cx="285293" cy="28529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897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Duur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8972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ongeveer 1,5 uur, met een korte pauze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8972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Meenemen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89720" y="4206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laptop, tablet of telefoon. Laptop of tablet werkt het makkelijkst, vanwege het grotere scherm.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deze cursus?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Computers, internet en AI horen steeds meer bij het dagelijks leven — van bankzaken tot contact met familie. Deze cursus geeft je de tijd en ruimte om daar zelfverzekerd mee om te leren gaan, zonder haast en zonder domme vragen.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566928" cy="566928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5503" y="19191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tempo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20939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stapjes, geen overprikkeling.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2834640"/>
            <a:ext cx="566928" cy="566928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503" y="29707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816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hulp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680960" y="3145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tik en de docent staat naast je.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49440" y="3886200"/>
            <a:ext cx="566928" cy="566928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503" y="402226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80960" y="3867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 te volgen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680960" y="4197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pc, tablet of telefoon.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Voor jong én 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 is zo opgezet dat iedereen mee kan doen. De uitleg sluit aan bij jouw tempo en niveau — of je nu net begint, of al aardig op weg bent.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" y="288036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" y="3200400"/>
            <a:ext cx="621792" cy="621792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226" y="3349630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3564" y="3977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voorkennis nodig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83564" y="4617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beginnen bij de basis en bouwen rustig op.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02836" y="288036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22876" y="3200400"/>
            <a:ext cx="621792" cy="621792"/>
          </a:xfrm>
          <a:prstGeom prst="ellipse">
            <a:avLst/>
          </a:prstGeom>
          <a:solidFill>
            <a:srgbClr val="5B8A6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106" y="3349630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5444" y="3977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Jouw niveau, jouw uitleg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95444" y="4617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docent stemt de diepgang af op wie er zit.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14716" y="288036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34756" y="3200400"/>
            <a:ext cx="621792" cy="621792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986" y="3349630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7324" y="3977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Vragen mag altijd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07324" y="4617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je vast? Steek je hand op, of gebruik de Help-knop.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AVOND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Avond 1: vijf onderwerpen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6052" y="1600200"/>
            <a:ext cx="2139696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57300" y="1920240"/>
            <a:ext cx="457200" cy="457200"/>
          </a:xfrm>
          <a:prstGeom prst="ellipse">
            <a:avLst/>
          </a:prstGeom>
          <a:solidFill>
            <a:srgbClr val="E2872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56716" y="2560320"/>
            <a:ext cx="658368" cy="658368"/>
          </a:xfrm>
          <a:prstGeom prst="ellipse">
            <a:avLst/>
          </a:prstGeom>
          <a:solidFill>
            <a:srgbClr val="1C6E76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27249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Computer- &amp; Internetbasis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53212" y="44805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E-mailen, bijlagen, navigeren, videobellen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20340" y="1600200"/>
            <a:ext cx="2139696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61588" y="1920240"/>
            <a:ext cx="457200" cy="457200"/>
          </a:xfrm>
          <a:prstGeom prst="ellipse">
            <a:avLst/>
          </a:prstGeom>
          <a:solidFill>
            <a:srgbClr val="E2872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5615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61004" y="2560320"/>
            <a:ext cx="658368" cy="658368"/>
          </a:xfrm>
          <a:prstGeom prst="ellipse">
            <a:avLst/>
          </a:prstGeom>
          <a:solidFill>
            <a:srgbClr val="1C6E76"/>
          </a:solidFill>
          <a:ln/>
        </p:spPr>
        <p:txBody>
          <a:bodyPr/>
          <a:p/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272491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30068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Praktische Apps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857500" y="44805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Marktplaats, Funda, 9292, Facebook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4628" y="1600200"/>
            <a:ext cx="2139696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5865876" y="1920240"/>
            <a:ext cx="457200" cy="457200"/>
          </a:xfrm>
          <a:prstGeom prst="ellipse">
            <a:avLst/>
          </a:prstGeom>
          <a:solidFill>
            <a:srgbClr val="E2872F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86587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765292" y="2560320"/>
            <a:ext cx="658368" cy="658368"/>
          </a:xfrm>
          <a:prstGeom prst="ellipse">
            <a:avLst/>
          </a:prstGeom>
          <a:solidFill>
            <a:srgbClr val="1C6E76"/>
          </a:solidFill>
          <a:ln/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72491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34356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Overheid &amp; Veiligheid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161788" y="44805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DigiD, bankieren, phishing, wachtwoorden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28916" y="1600200"/>
            <a:ext cx="2139696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8170164" y="1920240"/>
            <a:ext cx="457200" cy="457200"/>
          </a:xfrm>
          <a:prstGeom prst="ellipse">
            <a:avLst/>
          </a:prstGeom>
          <a:solidFill>
            <a:srgbClr val="E2872F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817016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069580" y="2560320"/>
            <a:ext cx="658368" cy="658368"/>
          </a:xfrm>
          <a:prstGeom prst="ellipse">
            <a:avLst/>
          </a:prstGeom>
          <a:solidFill>
            <a:srgbClr val="1C6E76"/>
          </a:solidFill>
          <a:ln/>
        </p:spPr>
        <p:txBody>
          <a:bodyPr/>
          <a:p/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172" y="2724912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38644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AI-gebruik &amp; Ethiek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466076" y="44805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slim prompten, grenzen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633204" y="1600200"/>
            <a:ext cx="2139696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10474452" y="1920240"/>
            <a:ext cx="457200" cy="457200"/>
          </a:xfrm>
          <a:prstGeom prst="ellipse">
            <a:avLst/>
          </a:prstGeom>
          <a:solidFill>
            <a:srgbClr val="E2872F"/>
          </a:solidFill>
          <a:ln/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1047445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0373868" y="2560320"/>
            <a:ext cx="658368" cy="658368"/>
          </a:xfrm>
          <a:prstGeom prst="ellipse">
            <a:avLst/>
          </a:prstGeom>
          <a:solidFill>
            <a:srgbClr val="1C6E76"/>
          </a:solidFill>
          <a:ln/>
        </p:spPr>
        <p:txBody>
          <a:bodyPr/>
          <a:p/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0" y="2724912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742932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Digitale Handigheidjes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9770364" y="44805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E-readers, cloud-foto’s, wachtwoordmanager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WERKWIJZE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ziet een les eruit?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907792"/>
            <a:ext cx="502920" cy="502920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6" name="Text 4"/>
          <p:cNvSpPr/>
          <p:nvPr/>
        </p:nvSpPr>
        <p:spPr>
          <a:xfrm>
            <a:off x="13487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61188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een module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4897" y="3584448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7218" y="265176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95878" y="2907792"/>
            <a:ext cx="502920" cy="502920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11" name="Text 8"/>
          <p:cNvSpPr/>
          <p:nvPr/>
        </p:nvSpPr>
        <p:spPr>
          <a:xfrm>
            <a:off x="3595878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996946" y="361188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&amp; bekijk de stap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35" y="3584448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34356" y="265176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43016" y="2907792"/>
            <a:ext cx="502920" cy="502920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16" name="Text 12"/>
          <p:cNvSpPr/>
          <p:nvPr/>
        </p:nvSpPr>
        <p:spPr>
          <a:xfrm>
            <a:off x="5843016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244084" y="361188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 op de echte site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173" y="3584448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81494" y="265176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90154" y="2907792"/>
            <a:ext cx="502920" cy="502920"/>
          </a:xfrm>
          <a:prstGeom prst="ellipse">
            <a:avLst/>
          </a:prstGeom>
          <a:solidFill>
            <a:srgbClr val="1C6E76"/>
          </a:solidFill>
          <a:ln/>
        </p:spPr>
      </p:sp>
      <p:sp>
        <p:nvSpPr>
          <p:cNvPr id="21" name="Text 16"/>
          <p:cNvSpPr/>
          <p:nvPr/>
        </p:nvSpPr>
        <p:spPr>
          <a:xfrm>
            <a:off x="8090154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491222" y="361188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‘Volgende’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311" y="3584448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28632" y="265176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37292" y="2907792"/>
            <a:ext cx="502920" cy="502920"/>
          </a:xfrm>
          <a:prstGeom prst="ellipse">
            <a:avLst/>
          </a:prstGeom>
          <a:solidFill>
            <a:srgbClr val="E2872F"/>
          </a:solidFill>
          <a:ln/>
        </p:spPr>
      </p:sp>
      <p:sp>
        <p:nvSpPr>
          <p:cNvPr id="26" name="Text 20"/>
          <p:cNvSpPr/>
          <p:nvPr/>
        </p:nvSpPr>
        <p:spPr>
          <a:xfrm>
            <a:off x="10337292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738360" y="361188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Herhaal tot de module klaar is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bouw je rustig op, met steeds één duidelijke taak per scherm.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IEDEREEN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Hulp &amp; toegankelijkheid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345436"/>
            <a:ext cx="658368" cy="658368"/>
          </a:xfrm>
          <a:prstGeom prst="ellipse">
            <a:avLst/>
          </a:prstGeom>
          <a:solidFill>
            <a:srgbClr val="5B8A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100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Help-knop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tik en de docent krijgt direct een melding tijdens de les.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36792" y="18288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345436"/>
            <a:ext cx="658368" cy="658368"/>
          </a:xfrm>
          <a:prstGeom prst="ellipse">
            <a:avLst/>
          </a:prstGeom>
          <a:solidFill>
            <a:srgbClr val="5B8A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5100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9792" y="2084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Voorlezen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79792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lesstap kan hardop worden voorgelezen.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357116"/>
            <a:ext cx="658368" cy="658368"/>
          </a:xfrm>
          <a:prstGeom prst="ellipse">
            <a:avLst/>
          </a:prstGeom>
          <a:solidFill>
            <a:srgbClr val="5B8A6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217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96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Lettergrootte &amp; contrast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526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aan te passen, boven in elk scherm.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36792" y="384048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4357116"/>
            <a:ext cx="658368" cy="658368"/>
          </a:xfrm>
          <a:prstGeom prst="ellipse">
            <a:avLst/>
          </a:prstGeom>
          <a:solidFill>
            <a:srgbClr val="5B8A6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5217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9792" y="4096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talen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79792" y="4526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Nederlands, Engels of Duits — eigen keuze.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Praktische afspraken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965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9659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Buurthuis Nieuwediep 117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9992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299923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1: 30 sept. 2026 — module 1–5     ·     Deel 2: 28 okt. 2026 — module 6–11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03250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03250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Meenemen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4032504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laptop, tablet of telefoon — laptop of tablet werkt het makkelijkst, vanwege het grotere scherm.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5065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Inloggegevens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5065776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cursist krijgt een eigen gebruikersnaam en wachtwoord.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ELKAAR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Prettig samen leren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928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Rustig aan — iedereen leert in zijn eigen tempo, dat is precies de bedoeling.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718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5292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‘domme vragen’ — als jij het je afvraagt, vraagt een ander het zich ook af.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319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81304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elkaar gerust — samen dingen uitzoeken mag altijd.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1C6E7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92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77316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 je er niet uit? Gebruik de Help-knop — daar is die voor.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05856" y="777240"/>
            <a:ext cx="777240" cy="777240"/>
          </a:xfrm>
          <a:prstGeom prst="ellipse">
            <a:avLst/>
          </a:prstGeom>
          <a:solidFill>
            <a:srgbClr val="E287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4" y="932688"/>
            <a:ext cx="466344" cy="466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7830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 we beginnen!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1371600" y="2788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met de gebruikersnaam en het wachtwoord die je hebt gekregen.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61104" y="352044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2872F"/>
          </a:solidFill>
          <a:ln/>
        </p:spPr>
      </p:sp>
      <p:sp>
        <p:nvSpPr>
          <p:cNvPr id="7" name="Text 4"/>
          <p:cNvSpPr/>
          <p:nvPr/>
        </p:nvSpPr>
        <p:spPr>
          <a:xfrm>
            <a:off x="4261104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adres in te vullen —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6634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 je er niet uit? Steek je hand op, of tik op de Help-knop.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24E54"/>
                </a:solidFill>
                <a:latin typeface="Calibri"/>
              </a:rPr>
              <a:t>AVOND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7323A"/>
                </a:solidFill>
                <a:latin typeface="Cambria"/>
              </a:rPr>
              <a:t>Avond 2: het vervolg</a:t>
            </a:r>
          </a:p>
        </p:txBody>
      </p:sp>
      <p:sp>
        <p:nvSpPr>
          <p:cNvPr id="4" name="Rounded Rectangle"/>
          <p:cNvSpPr/>
          <p:nvPr/>
        </p:nvSpPr>
        <p:spPr>
          <a:xfrm>
            <a:off x="416052" y="1600200"/>
            <a:ext cx="1784475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"/>
          <p:cNvSpPr/>
          <p:nvPr/>
        </p:nvSpPr>
        <p:spPr>
          <a:xfrm>
            <a:off x="1079689" y="1920240"/>
            <a:ext cx="457200" cy="457200"/>
          </a:xfrm>
          <a:prstGeom prst="ellipse">
            <a:avLst/>
          </a:prstGeom>
          <a:solidFill>
            <a:srgbClr val="E2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079689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7" name="Oval"/>
          <p:cNvSpPr/>
          <p:nvPr/>
        </p:nvSpPr>
        <p:spPr>
          <a:xfrm>
            <a:off x="979105" y="2560320"/>
            <a:ext cx="658368" cy="658368"/>
          </a:xfrm>
          <a:prstGeom prst="ellipse">
            <a:avLst/>
          </a:prstGeom>
          <a:solidFill>
            <a:srgbClr val="1C6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97" y="2724912"/>
            <a:ext cx="329184" cy="329184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508289" y="3474720"/>
            <a:ext cx="16000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17323A"/>
                </a:solidFill>
                <a:latin typeface="Cambria"/>
              </a:rPr>
              <a:t>Foto's &amp; Video's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28289" y="4480560"/>
            <a:ext cx="1560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5585C"/>
                </a:solidFill>
                <a:latin typeface="Calibri"/>
              </a:rPr>
              <a:t>Maken, bewerken, albums, delen met familie</a:t>
            </a:r>
          </a:p>
        </p:txBody>
      </p:sp>
      <p:sp>
        <p:nvSpPr>
          <p:cNvPr id="11" name="Rounded Rectangle"/>
          <p:cNvSpPr/>
          <p:nvPr/>
        </p:nvSpPr>
        <p:spPr>
          <a:xfrm>
            <a:off x="2330527" y="1600200"/>
            <a:ext cx="1784475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"/>
          <p:cNvSpPr/>
          <p:nvPr/>
        </p:nvSpPr>
        <p:spPr>
          <a:xfrm>
            <a:off x="2994164" y="1920240"/>
            <a:ext cx="457200" cy="457200"/>
          </a:xfrm>
          <a:prstGeom prst="ellipse">
            <a:avLst/>
          </a:prstGeom>
          <a:solidFill>
            <a:srgbClr val="E2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2994164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4" name="Oval"/>
          <p:cNvSpPr/>
          <p:nvPr/>
        </p:nvSpPr>
        <p:spPr>
          <a:xfrm>
            <a:off x="2893580" y="2560320"/>
            <a:ext cx="658368" cy="658368"/>
          </a:xfrm>
          <a:prstGeom prst="ellipse">
            <a:avLst/>
          </a:prstGeom>
          <a:solidFill>
            <a:srgbClr val="1C6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172" y="2724912"/>
            <a:ext cx="329184" cy="329184"/>
          </a:xfrm>
          <a:prstGeom prst="rect">
            <a:avLst/>
          </a:prstGeom>
        </p:spPr>
      </p:pic>
      <p:sp>
        <p:nvSpPr>
          <p:cNvPr id="16" name="TextBox"/>
          <p:cNvSpPr txBox="1"/>
          <p:nvPr/>
        </p:nvSpPr>
        <p:spPr>
          <a:xfrm>
            <a:off x="2422764" y="3474720"/>
            <a:ext cx="16000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17323A"/>
                </a:solidFill>
                <a:latin typeface="Cambria"/>
              </a:rPr>
              <a:t>Veilig Online Winkelen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442764" y="4480560"/>
            <a:ext cx="1560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5585C"/>
                </a:solidFill>
                <a:latin typeface="Calibri"/>
              </a:rPr>
              <a:t>Betrouwbare shops, veilig betalen, bezorging</a:t>
            </a:r>
          </a:p>
        </p:txBody>
      </p:sp>
      <p:sp>
        <p:nvSpPr>
          <p:cNvPr id="18" name="Rounded Rectangle"/>
          <p:cNvSpPr/>
          <p:nvPr/>
        </p:nvSpPr>
        <p:spPr>
          <a:xfrm>
            <a:off x="4245002" y="1600200"/>
            <a:ext cx="1784475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"/>
          <p:cNvSpPr/>
          <p:nvPr/>
        </p:nvSpPr>
        <p:spPr>
          <a:xfrm>
            <a:off x="4908639" y="1920240"/>
            <a:ext cx="457200" cy="457200"/>
          </a:xfrm>
          <a:prstGeom prst="ellipse">
            <a:avLst/>
          </a:prstGeom>
          <a:solidFill>
            <a:srgbClr val="E2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4908639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1" name="Oval"/>
          <p:cNvSpPr/>
          <p:nvPr/>
        </p:nvSpPr>
        <p:spPr>
          <a:xfrm>
            <a:off x="4808055" y="2560320"/>
            <a:ext cx="658368" cy="658368"/>
          </a:xfrm>
          <a:prstGeom prst="ellipse">
            <a:avLst/>
          </a:prstGeom>
          <a:solidFill>
            <a:srgbClr val="1C6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647" y="2724912"/>
            <a:ext cx="329184" cy="329184"/>
          </a:xfrm>
          <a:prstGeom prst="rect">
            <a:avLst/>
          </a:prstGeom>
        </p:spPr>
      </p:pic>
      <p:sp>
        <p:nvSpPr>
          <p:cNvPr id="23" name="TextBox"/>
          <p:cNvSpPr txBox="1"/>
          <p:nvPr/>
        </p:nvSpPr>
        <p:spPr>
          <a:xfrm>
            <a:off x="4337239" y="3474720"/>
            <a:ext cx="16000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17323A"/>
                </a:solidFill>
                <a:latin typeface="Cambria"/>
              </a:rPr>
              <a:t>Slimme Telefoon &amp; AI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4357239" y="4480560"/>
            <a:ext cx="1560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5585C"/>
                </a:solidFill>
                <a:latin typeface="Calibri"/>
              </a:rPr>
              <a:t>Instellingen, apps, AI voor alledaagse vragen</a:t>
            </a:r>
          </a:p>
        </p:txBody>
      </p:sp>
      <p:sp>
        <p:nvSpPr>
          <p:cNvPr id="25" name="Rounded Rectangle"/>
          <p:cNvSpPr/>
          <p:nvPr/>
        </p:nvSpPr>
        <p:spPr>
          <a:xfrm>
            <a:off x="6159477" y="1600200"/>
            <a:ext cx="1784475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"/>
          <p:cNvSpPr/>
          <p:nvPr/>
        </p:nvSpPr>
        <p:spPr>
          <a:xfrm>
            <a:off x="6823114" y="1920240"/>
            <a:ext cx="457200" cy="457200"/>
          </a:xfrm>
          <a:prstGeom prst="ellipse">
            <a:avLst/>
          </a:prstGeom>
          <a:solidFill>
            <a:srgbClr val="E2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"/>
          <p:cNvSpPr txBox="1"/>
          <p:nvPr/>
        </p:nvSpPr>
        <p:spPr>
          <a:xfrm>
            <a:off x="6823114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28" name="Oval"/>
          <p:cNvSpPr/>
          <p:nvPr/>
        </p:nvSpPr>
        <p:spPr>
          <a:xfrm>
            <a:off x="6722530" y="2560320"/>
            <a:ext cx="658368" cy="658368"/>
          </a:xfrm>
          <a:prstGeom prst="ellipse">
            <a:avLst/>
          </a:prstGeom>
          <a:solidFill>
            <a:srgbClr val="1C6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122" y="2724912"/>
            <a:ext cx="329184" cy="329184"/>
          </a:xfrm>
          <a:prstGeom prst="rect">
            <a:avLst/>
          </a:prstGeom>
        </p:spPr>
      </p:pic>
      <p:sp>
        <p:nvSpPr>
          <p:cNvPr id="30" name="TextBox"/>
          <p:cNvSpPr txBox="1"/>
          <p:nvPr/>
        </p:nvSpPr>
        <p:spPr>
          <a:xfrm>
            <a:off x="6251714" y="3474720"/>
            <a:ext cx="16000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17323A"/>
                </a:solidFill>
                <a:latin typeface="Cambria"/>
              </a:rPr>
              <a:t>Nepnieuws Herkennen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6271714" y="4480560"/>
            <a:ext cx="1560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5585C"/>
                </a:solidFill>
                <a:latin typeface="Calibri"/>
              </a:rPr>
              <a:t>Een bron checken, nep van echt onderscheiden</a:t>
            </a:r>
          </a:p>
        </p:txBody>
      </p:sp>
      <p:sp>
        <p:nvSpPr>
          <p:cNvPr id="32" name="Rounded Rectangle"/>
          <p:cNvSpPr/>
          <p:nvPr/>
        </p:nvSpPr>
        <p:spPr>
          <a:xfrm>
            <a:off x="8073952" y="1600200"/>
            <a:ext cx="1784475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"/>
          <p:cNvSpPr/>
          <p:nvPr/>
        </p:nvSpPr>
        <p:spPr>
          <a:xfrm>
            <a:off x="8737589" y="1920240"/>
            <a:ext cx="457200" cy="457200"/>
          </a:xfrm>
          <a:prstGeom prst="ellipse">
            <a:avLst/>
          </a:prstGeom>
          <a:solidFill>
            <a:srgbClr val="E2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"/>
          <p:cNvSpPr txBox="1"/>
          <p:nvPr/>
        </p:nvSpPr>
        <p:spPr>
          <a:xfrm>
            <a:off x="8737589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5" name="Oval"/>
          <p:cNvSpPr/>
          <p:nvPr/>
        </p:nvSpPr>
        <p:spPr>
          <a:xfrm>
            <a:off x="8637005" y="2560320"/>
            <a:ext cx="658368" cy="658368"/>
          </a:xfrm>
          <a:prstGeom prst="ellipse">
            <a:avLst/>
          </a:prstGeom>
          <a:solidFill>
            <a:srgbClr val="1C6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597" y="2724912"/>
            <a:ext cx="329184" cy="329184"/>
          </a:xfrm>
          <a:prstGeom prst="rect">
            <a:avLst/>
          </a:prstGeom>
        </p:spPr>
      </p:pic>
      <p:sp>
        <p:nvSpPr>
          <p:cNvPr id="37" name="TextBox"/>
          <p:cNvSpPr txBox="1"/>
          <p:nvPr/>
        </p:nvSpPr>
        <p:spPr>
          <a:xfrm>
            <a:off x="8166189" y="3474720"/>
            <a:ext cx="16000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17323A"/>
                </a:solidFill>
                <a:latin typeface="Cambria"/>
              </a:rPr>
              <a:t>Microsoft Office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8186189" y="4480560"/>
            <a:ext cx="1560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5585C"/>
                </a:solidFill>
                <a:latin typeface="Calibri"/>
              </a:rPr>
              <a:t>Word, Excel &amp; PowerPoint</a:t>
            </a:r>
          </a:p>
        </p:txBody>
      </p:sp>
      <p:sp>
        <p:nvSpPr>
          <p:cNvPr id="39" name="Rounded Rectangle"/>
          <p:cNvSpPr/>
          <p:nvPr/>
        </p:nvSpPr>
        <p:spPr>
          <a:xfrm>
            <a:off x="9988427" y="1600200"/>
            <a:ext cx="1784475" cy="42976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"/>
          <p:cNvSpPr/>
          <p:nvPr/>
        </p:nvSpPr>
        <p:spPr>
          <a:xfrm>
            <a:off x="10652064" y="1920240"/>
            <a:ext cx="457200" cy="457200"/>
          </a:xfrm>
          <a:prstGeom prst="ellipse">
            <a:avLst/>
          </a:prstGeom>
          <a:solidFill>
            <a:srgbClr val="E2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"/>
          <p:cNvSpPr txBox="1"/>
          <p:nvPr/>
        </p:nvSpPr>
        <p:spPr>
          <a:xfrm>
            <a:off x="10652064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42" name="Oval"/>
          <p:cNvSpPr/>
          <p:nvPr/>
        </p:nvSpPr>
        <p:spPr>
          <a:xfrm>
            <a:off x="10551480" y="2560320"/>
            <a:ext cx="658368" cy="658368"/>
          </a:xfrm>
          <a:prstGeom prst="ellipse">
            <a:avLst/>
          </a:prstGeom>
          <a:solidFill>
            <a:srgbClr val="1C6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6072" y="2724912"/>
            <a:ext cx="329184" cy="329184"/>
          </a:xfrm>
          <a:prstGeom prst="rect">
            <a:avLst/>
          </a:prstGeom>
        </p:spPr>
      </p:pic>
      <p:sp>
        <p:nvSpPr>
          <p:cNvPr id="44" name="TextBox"/>
          <p:cNvSpPr txBox="1"/>
          <p:nvPr/>
        </p:nvSpPr>
        <p:spPr>
          <a:xfrm>
            <a:off x="10080664" y="3474720"/>
            <a:ext cx="16000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17323A"/>
                </a:solidFill>
                <a:latin typeface="Cambria"/>
              </a:rPr>
              <a:t>Google Workspace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10100664" y="4480560"/>
            <a:ext cx="1560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5585C"/>
                </a:solidFill>
                <a:latin typeface="Calibri"/>
              </a:rPr>
              <a:t>Documenten, Spreadsheets &amp; Presentaties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2026-08-19T21:58:02Z</dcterms:created>
  <dcterms:modified xsi:type="dcterms:W3CDTF">2026-08-19T21:58:02Z</dcterms:modified>
</cp:coreProperties>
</file>