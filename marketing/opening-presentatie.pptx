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Welkom iedereen. Stel jezelf voor en heet de groep welkom bij de eerste bijeenkomst van de PC &amp; AI Cursus.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Loop kort het programma door zodat iedereen weet wat te verwachten.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Vertel kort waarom dit initiatief bestaat en wat je hoopt dat mensen eraan overhouden.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Benoem dat het platform achter de schermen twee tempo’s ondersteunt, maar richting de groep gaat het gewoon om: iedereen kan meedoen.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Loop kort elk van de vijf onderwerpen langs. Benoem dat de volgorde bewust is: van basis naar veiligheid naar AI.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Laat eventueel live zien hoe een les eruitziet, met de Volgende-knop en een oefenstap.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Benadruk vooral de Help-knop: niemand hoeft vast te blijven zitten.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Computercursus &amp; AI, deel 1 op 30 september 2026 en deel 2 op 28 oktober 2026, in Buurthuis Nieuwediep 117.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Dit is bewust geen strenge regellijst maar een geruststelling: fouten maken mag, vragen stellen mag altijd.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Sluit af en help iedereen om nu daadwerkelijk in te loggen op het platform.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3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37276" y="960120"/>
            <a:ext cx="914400" cy="914400"/>
          </a:xfrm>
          <a:prstGeom prst="ellipse">
            <a:avLst/>
          </a:prstGeom>
          <a:solidFill>
            <a:srgbClr val="E2872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11012" y="1133856"/>
            <a:ext cx="566928" cy="56692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0" y="2148840"/>
            <a:ext cx="12188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PC &amp; AI Cursus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0" y="3200400"/>
            <a:ext cx="12188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FC6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Welkom bij de opening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1975104" y="5943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8FC6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Stap voor stap leren omgaan met computer, internet en AI — in je eigen tempo.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F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2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VANDAAG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 gaan we vandaag doen?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1874520"/>
            <a:ext cx="512064" cy="512064"/>
          </a:xfrm>
          <a:prstGeom prst="ellipse">
            <a:avLst/>
          </a:prstGeom>
          <a:solidFill>
            <a:srgbClr val="1C6E76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745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600200" y="1892808"/>
            <a:ext cx="7772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Welkom &amp; kennismaking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2715768"/>
            <a:ext cx="512064" cy="512064"/>
          </a:xfrm>
          <a:prstGeom prst="ellipse">
            <a:avLst/>
          </a:prstGeom>
          <a:solidFill>
            <a:srgbClr val="1C6E76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7157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600200" y="2734056"/>
            <a:ext cx="7772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Waarom deze cursus, en voor wie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22960" y="3557016"/>
            <a:ext cx="512064" cy="512064"/>
          </a:xfrm>
          <a:prstGeom prst="ellipse">
            <a:avLst/>
          </a:prstGeom>
          <a:solidFill>
            <a:srgbClr val="1C6E76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35570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600200" y="3575304"/>
            <a:ext cx="7772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vijf onderwerpen die we behandelen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822960" y="4398264"/>
            <a:ext cx="512064" cy="512064"/>
          </a:xfrm>
          <a:prstGeom prst="ellipse">
            <a:avLst/>
          </a:prstGeom>
          <a:solidFill>
            <a:srgbClr val="1C6E76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39826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600200" y="4416552"/>
            <a:ext cx="7772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Hoe het platform werkt — inloggen, lessen, hulp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22960" y="5239512"/>
            <a:ext cx="512064" cy="512064"/>
          </a:xfrm>
          <a:prstGeom prst="ellipse">
            <a:avLst/>
          </a:prstGeom>
          <a:solidFill>
            <a:srgbClr val="1C6E76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523951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600200" y="5257800"/>
            <a:ext cx="7772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Samen de eerste stap zetten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8915400" y="1874520"/>
            <a:ext cx="2651760" cy="402336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DCE6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372600" y="2240280"/>
            <a:ext cx="548640" cy="548640"/>
          </a:xfrm>
          <a:prstGeom prst="ellipse">
            <a:avLst/>
          </a:prstGeom>
          <a:solidFill>
            <a:srgbClr val="5B8A63"/>
          </a:solidFill>
          <a:ln/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4274" y="2371954"/>
            <a:ext cx="285293" cy="285293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9189720" y="29260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Duur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9189720" y="32461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5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ongeveer 1,5 uur, met een korte pauze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9189720" y="38862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Meenemen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9189720" y="4206240"/>
            <a:ext cx="2331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55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 laptop, tablet of telefoon. Laptop of tablet werkt het makkelijkst, vanwege het grotere scherm.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F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2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WAAROM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Waarom deze cursus?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57607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455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Computers, internet en AI horen steeds meer bij het dagelijks leven — van bankzaken tot contact met familie. Deze cursus geeft je de tijd en ruimte om daar zelfverzekerd mee om te leren gaan, zonder haast en zonder domme vragen.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949440" y="1783080"/>
            <a:ext cx="566928" cy="566928"/>
          </a:xfrm>
          <a:prstGeom prst="ellipse">
            <a:avLst/>
          </a:prstGeom>
          <a:solidFill>
            <a:srgbClr val="1C6E76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5503" y="1919143"/>
            <a:ext cx="294803" cy="29480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680960" y="176479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 tempo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680960" y="209397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5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Kleine stapjes, geen overprikkeling.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949440" y="2834640"/>
            <a:ext cx="566928" cy="566928"/>
          </a:xfrm>
          <a:prstGeom prst="ellipse">
            <a:avLst/>
          </a:prstGeom>
          <a:solidFill>
            <a:srgbClr val="1C6E76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5503" y="2970703"/>
            <a:ext cx="294803" cy="294803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680960" y="281635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hulp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7680960" y="314553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5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Eén tik en de docent staat naast je.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949440" y="3886200"/>
            <a:ext cx="566928" cy="566928"/>
          </a:xfrm>
          <a:prstGeom prst="ellipse">
            <a:avLst/>
          </a:prstGeom>
          <a:solidFill>
            <a:srgbClr val="1C6E76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5503" y="4022263"/>
            <a:ext cx="294803" cy="294803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680960" y="386791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 te volgen</a:t>
            </a:r>
            <a:endParaRPr lang="en-US" sz="1600" dirty="0"/>
          </a:p>
        </p:txBody>
      </p:sp>
      <p:sp>
        <p:nvSpPr>
          <p:cNvPr id="16" name="Text 11"/>
          <p:cNvSpPr/>
          <p:nvPr/>
        </p:nvSpPr>
        <p:spPr>
          <a:xfrm>
            <a:off x="7680960" y="419709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5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de pc, tablet of telefoon.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F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2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MAAT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Voor jong én oud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455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Deze cursus is zo opgezet dat iedereen mee kan doen. De uitleg sluit aan bij jouw tempo en niveau — of je nu net begint, of al aardig op weg bent.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90956" y="2880360"/>
            <a:ext cx="3383280" cy="265176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DCE6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0996" y="3200400"/>
            <a:ext cx="621792" cy="621792"/>
          </a:xfrm>
          <a:prstGeom prst="ellipse">
            <a:avLst/>
          </a:prstGeom>
          <a:solidFill>
            <a:srgbClr val="1C6E76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60226" y="3349630"/>
            <a:ext cx="323332" cy="3233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83564" y="397764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5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Geen voorkennis nodig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1083564" y="46177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55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beginnen bij de basis en bouwen rustig op.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402836" y="2880360"/>
            <a:ext cx="3383280" cy="265176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DCE6E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722876" y="3200400"/>
            <a:ext cx="621792" cy="621792"/>
          </a:xfrm>
          <a:prstGeom prst="ellipse">
            <a:avLst/>
          </a:prstGeom>
          <a:solidFill>
            <a:srgbClr val="5B8A63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2106" y="3349630"/>
            <a:ext cx="323332" cy="32333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95444" y="397764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5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Jouw niveau, jouw uitleg</a:t>
            </a:r>
            <a:endParaRPr lang="en-US" sz="1650" dirty="0"/>
          </a:p>
        </p:txBody>
      </p:sp>
      <p:sp>
        <p:nvSpPr>
          <p:cNvPr id="14" name="Text 10"/>
          <p:cNvSpPr/>
          <p:nvPr/>
        </p:nvSpPr>
        <p:spPr>
          <a:xfrm>
            <a:off x="4695444" y="46177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55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docent stemt de diepgang af op wie er zit.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014716" y="2880360"/>
            <a:ext cx="3383280" cy="265176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DCE6E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334756" y="3200400"/>
            <a:ext cx="621792" cy="621792"/>
          </a:xfrm>
          <a:prstGeom prst="ellipse">
            <a:avLst/>
          </a:prstGeom>
          <a:solidFill>
            <a:srgbClr val="1C6E76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3986" y="3349630"/>
            <a:ext cx="323332" cy="32333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307324" y="397764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5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Vragen mag altijd</a:t>
            </a:r>
            <a:endParaRPr lang="en-US" sz="1650" dirty="0"/>
          </a:p>
        </p:txBody>
      </p:sp>
      <p:sp>
        <p:nvSpPr>
          <p:cNvPr id="19" name="Text 14"/>
          <p:cNvSpPr/>
          <p:nvPr/>
        </p:nvSpPr>
        <p:spPr>
          <a:xfrm>
            <a:off x="8307324" y="46177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55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 je vast? Steek je hand op, of gebruik de Help-knop.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F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2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INHOUD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vijf onderwerpen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6052" y="1600200"/>
            <a:ext cx="2139696" cy="42976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CE6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57300" y="1920240"/>
            <a:ext cx="457200" cy="457200"/>
          </a:xfrm>
          <a:prstGeom prst="ellipse">
            <a:avLst/>
          </a:prstGeom>
          <a:solidFill>
            <a:srgbClr val="E2872F"/>
          </a:solidFill>
          <a:ln/>
        </p:spPr>
      </p:sp>
      <p:sp>
        <p:nvSpPr>
          <p:cNvPr id="6" name="Text 4"/>
          <p:cNvSpPr/>
          <p:nvPr/>
        </p:nvSpPr>
        <p:spPr>
          <a:xfrm>
            <a:off x="125730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156716" y="2560320"/>
            <a:ext cx="658368" cy="658368"/>
          </a:xfrm>
          <a:prstGeom prst="ellipse">
            <a:avLst/>
          </a:prstGeom>
          <a:solidFill>
            <a:srgbClr val="1C6E76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1308" y="2724912"/>
            <a:ext cx="329184" cy="32918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25780" y="3474720"/>
            <a:ext cx="1920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Computer- &amp; Internetbasis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553212" y="4480560"/>
            <a:ext cx="186537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455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E-mailen, bijlagen, navigeren, videobellen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2720340" y="1600200"/>
            <a:ext cx="2139696" cy="42976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CE6E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561588" y="1920240"/>
            <a:ext cx="457200" cy="457200"/>
          </a:xfrm>
          <a:prstGeom prst="ellipse">
            <a:avLst/>
          </a:prstGeom>
          <a:solidFill>
            <a:srgbClr val="E2872F"/>
          </a:solidFill>
          <a:ln/>
        </p:spPr>
      </p:sp>
      <p:sp>
        <p:nvSpPr>
          <p:cNvPr id="13" name="Text 10"/>
          <p:cNvSpPr/>
          <p:nvPr/>
        </p:nvSpPr>
        <p:spPr>
          <a:xfrm>
            <a:off x="3561588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3461004" y="2560320"/>
            <a:ext cx="658368" cy="658368"/>
          </a:xfrm>
          <a:prstGeom prst="ellipse">
            <a:avLst/>
          </a:prstGeom>
          <a:solidFill>
            <a:srgbClr val="1C6E76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5596" y="2724912"/>
            <a:ext cx="329184" cy="32918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2830068" y="3474720"/>
            <a:ext cx="1920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Praktische Apps</a:t>
            </a:r>
            <a:endParaRPr lang="en-US" sz="1450" dirty="0"/>
          </a:p>
        </p:txBody>
      </p:sp>
      <p:sp>
        <p:nvSpPr>
          <p:cNvPr id="17" name="Text 13"/>
          <p:cNvSpPr/>
          <p:nvPr/>
        </p:nvSpPr>
        <p:spPr>
          <a:xfrm>
            <a:off x="2857500" y="4480560"/>
            <a:ext cx="186537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455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Maps, Marktplaats, Funda, 9292, Facebook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5024628" y="1600200"/>
            <a:ext cx="2139696" cy="42976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CE6E0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865876" y="1920240"/>
            <a:ext cx="457200" cy="457200"/>
          </a:xfrm>
          <a:prstGeom prst="ellipse">
            <a:avLst/>
          </a:prstGeom>
          <a:solidFill>
            <a:srgbClr val="E2872F"/>
          </a:solidFill>
          <a:ln/>
        </p:spPr>
      </p:sp>
      <p:sp>
        <p:nvSpPr>
          <p:cNvPr id="20" name="Text 16"/>
          <p:cNvSpPr/>
          <p:nvPr/>
        </p:nvSpPr>
        <p:spPr>
          <a:xfrm>
            <a:off x="5865876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765292" y="2560320"/>
            <a:ext cx="658368" cy="658368"/>
          </a:xfrm>
          <a:prstGeom prst="ellipse">
            <a:avLst/>
          </a:prstGeom>
          <a:solidFill>
            <a:srgbClr val="1C6E76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9884" y="2724912"/>
            <a:ext cx="329184" cy="329184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5134356" y="3474720"/>
            <a:ext cx="1920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Overheid &amp; Veiligheid</a:t>
            </a:r>
            <a:endParaRPr lang="en-US" sz="1450" dirty="0"/>
          </a:p>
        </p:txBody>
      </p:sp>
      <p:sp>
        <p:nvSpPr>
          <p:cNvPr id="24" name="Text 19"/>
          <p:cNvSpPr/>
          <p:nvPr/>
        </p:nvSpPr>
        <p:spPr>
          <a:xfrm>
            <a:off x="5161788" y="4480560"/>
            <a:ext cx="186537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455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DigiD, bankieren, phishing, wachtwoorden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7328916" y="1600200"/>
            <a:ext cx="2139696" cy="42976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CE6E0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8170164" y="1920240"/>
            <a:ext cx="457200" cy="457200"/>
          </a:xfrm>
          <a:prstGeom prst="ellipse">
            <a:avLst/>
          </a:prstGeom>
          <a:solidFill>
            <a:srgbClr val="E2872F"/>
          </a:solidFill>
          <a:ln/>
        </p:spPr>
      </p:sp>
      <p:sp>
        <p:nvSpPr>
          <p:cNvPr id="27" name="Text 22"/>
          <p:cNvSpPr/>
          <p:nvPr/>
        </p:nvSpPr>
        <p:spPr>
          <a:xfrm>
            <a:off x="8170164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8" name="Shape 23"/>
          <p:cNvSpPr/>
          <p:nvPr/>
        </p:nvSpPr>
        <p:spPr>
          <a:xfrm>
            <a:off x="8069580" y="2560320"/>
            <a:ext cx="658368" cy="658368"/>
          </a:xfrm>
          <a:prstGeom prst="ellipse">
            <a:avLst/>
          </a:prstGeom>
          <a:solidFill>
            <a:srgbClr val="1C6E76"/>
          </a:solidFill>
          <a:ln/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4172" y="2724912"/>
            <a:ext cx="329184" cy="329184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7438644" y="3474720"/>
            <a:ext cx="1920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AI-gebruik &amp; Ethiek</a:t>
            </a:r>
            <a:endParaRPr lang="en-US" sz="1450" dirty="0"/>
          </a:p>
        </p:txBody>
      </p:sp>
      <p:sp>
        <p:nvSpPr>
          <p:cNvPr id="31" name="Text 25"/>
          <p:cNvSpPr/>
          <p:nvPr/>
        </p:nvSpPr>
        <p:spPr>
          <a:xfrm>
            <a:off x="7466076" y="4480560"/>
            <a:ext cx="186537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455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ChatGPT, Gemini, slim prompten, grenzen</a:t>
            </a:r>
            <a:endParaRPr lang="en-US" sz="1100" dirty="0"/>
          </a:p>
        </p:txBody>
      </p:sp>
      <p:sp>
        <p:nvSpPr>
          <p:cNvPr id="32" name="Shape 26"/>
          <p:cNvSpPr/>
          <p:nvPr/>
        </p:nvSpPr>
        <p:spPr>
          <a:xfrm>
            <a:off x="9633204" y="1600200"/>
            <a:ext cx="2139696" cy="42976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CE6E0"/>
            </a:solidFill>
            <a:prstDash val="solid"/>
          </a:ln>
        </p:spPr>
      </p:sp>
      <p:sp>
        <p:nvSpPr>
          <p:cNvPr id="33" name="Shape 27"/>
          <p:cNvSpPr/>
          <p:nvPr/>
        </p:nvSpPr>
        <p:spPr>
          <a:xfrm>
            <a:off x="10474452" y="1920240"/>
            <a:ext cx="457200" cy="457200"/>
          </a:xfrm>
          <a:prstGeom prst="ellipse">
            <a:avLst/>
          </a:prstGeom>
          <a:solidFill>
            <a:srgbClr val="E2872F"/>
          </a:solidFill>
          <a:ln/>
        </p:spPr>
      </p:sp>
      <p:sp>
        <p:nvSpPr>
          <p:cNvPr id="34" name="Text 28"/>
          <p:cNvSpPr/>
          <p:nvPr/>
        </p:nvSpPr>
        <p:spPr>
          <a:xfrm>
            <a:off x="10474452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35" name="Shape 29"/>
          <p:cNvSpPr/>
          <p:nvPr/>
        </p:nvSpPr>
        <p:spPr>
          <a:xfrm>
            <a:off x="10373868" y="2560320"/>
            <a:ext cx="658368" cy="658368"/>
          </a:xfrm>
          <a:prstGeom prst="ellipse">
            <a:avLst/>
          </a:prstGeom>
          <a:solidFill>
            <a:srgbClr val="1C6E76"/>
          </a:solidFill>
          <a:ln/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38460" y="2724912"/>
            <a:ext cx="329184" cy="329184"/>
          </a:xfrm>
          <a:prstGeom prst="rect">
            <a:avLst/>
          </a:prstGeom>
        </p:spPr>
      </p:pic>
      <p:sp>
        <p:nvSpPr>
          <p:cNvPr id="37" name="Text 30"/>
          <p:cNvSpPr/>
          <p:nvPr/>
        </p:nvSpPr>
        <p:spPr>
          <a:xfrm>
            <a:off x="9742932" y="3474720"/>
            <a:ext cx="1920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Digitale Handigheidjes</a:t>
            </a:r>
            <a:endParaRPr lang="en-US" sz="1450" dirty="0"/>
          </a:p>
        </p:txBody>
      </p:sp>
      <p:sp>
        <p:nvSpPr>
          <p:cNvPr id="38" name="Text 31"/>
          <p:cNvSpPr/>
          <p:nvPr/>
        </p:nvSpPr>
        <p:spPr>
          <a:xfrm>
            <a:off x="9770364" y="4480560"/>
            <a:ext cx="186537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455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E-readers, cloud-foto’s, wachtwoordmanager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F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2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WERKWIJZE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Hoe ziet een les eruit?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651760"/>
            <a:ext cx="1920240" cy="2103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CE6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48740" y="2907792"/>
            <a:ext cx="502920" cy="502920"/>
          </a:xfrm>
          <a:prstGeom prst="ellipse">
            <a:avLst/>
          </a:prstGeom>
          <a:solidFill>
            <a:srgbClr val="1C6E76"/>
          </a:solidFill>
          <a:ln/>
        </p:spPr>
      </p:sp>
      <p:sp>
        <p:nvSpPr>
          <p:cNvPr id="6" name="Text 4"/>
          <p:cNvSpPr/>
          <p:nvPr/>
        </p:nvSpPr>
        <p:spPr>
          <a:xfrm>
            <a:off x="1348740" y="29077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49808" y="3611880"/>
            <a:ext cx="1700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een module</a:t>
            </a:r>
            <a:endParaRPr lang="en-US" sz="13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04897" y="3584448"/>
            <a:ext cx="237744" cy="237744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2887218" y="2651760"/>
            <a:ext cx="1920240" cy="2103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CE6E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595878" y="2907792"/>
            <a:ext cx="502920" cy="502920"/>
          </a:xfrm>
          <a:prstGeom prst="ellipse">
            <a:avLst/>
          </a:prstGeom>
          <a:solidFill>
            <a:srgbClr val="1C6E76"/>
          </a:solidFill>
          <a:ln/>
        </p:spPr>
      </p:sp>
      <p:sp>
        <p:nvSpPr>
          <p:cNvPr id="11" name="Text 8"/>
          <p:cNvSpPr/>
          <p:nvPr/>
        </p:nvSpPr>
        <p:spPr>
          <a:xfrm>
            <a:off x="3595878" y="29077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2996946" y="3611880"/>
            <a:ext cx="1700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Lees &amp; bekijk de stap</a:t>
            </a:r>
            <a:endParaRPr lang="en-US" sz="13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2035" y="3584448"/>
            <a:ext cx="237744" cy="237744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5134356" y="2651760"/>
            <a:ext cx="1920240" cy="2103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CE6E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843016" y="2907792"/>
            <a:ext cx="502920" cy="502920"/>
          </a:xfrm>
          <a:prstGeom prst="ellipse">
            <a:avLst/>
          </a:prstGeom>
          <a:solidFill>
            <a:srgbClr val="1C6E76"/>
          </a:solidFill>
          <a:ln/>
        </p:spPr>
      </p:sp>
      <p:sp>
        <p:nvSpPr>
          <p:cNvPr id="16" name="Text 12"/>
          <p:cNvSpPr/>
          <p:nvPr/>
        </p:nvSpPr>
        <p:spPr>
          <a:xfrm>
            <a:off x="5843016" y="29077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5244084" y="3611880"/>
            <a:ext cx="1700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Oefen op de echte site</a:t>
            </a:r>
            <a:endParaRPr lang="en-US" sz="1300" dirty="0"/>
          </a:p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9173" y="3584448"/>
            <a:ext cx="237744" cy="237744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7381494" y="2651760"/>
            <a:ext cx="1920240" cy="2103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CE6E0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8090154" y="2907792"/>
            <a:ext cx="502920" cy="502920"/>
          </a:xfrm>
          <a:prstGeom prst="ellipse">
            <a:avLst/>
          </a:prstGeom>
          <a:solidFill>
            <a:srgbClr val="1C6E76"/>
          </a:solidFill>
          <a:ln/>
        </p:spPr>
      </p:sp>
      <p:sp>
        <p:nvSpPr>
          <p:cNvPr id="21" name="Text 16"/>
          <p:cNvSpPr/>
          <p:nvPr/>
        </p:nvSpPr>
        <p:spPr>
          <a:xfrm>
            <a:off x="8090154" y="29077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17"/>
          <p:cNvSpPr/>
          <p:nvPr/>
        </p:nvSpPr>
        <p:spPr>
          <a:xfrm>
            <a:off x="7491222" y="3611880"/>
            <a:ext cx="1700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Klik op ‘Volgende’</a:t>
            </a:r>
            <a:endParaRPr lang="en-US" sz="1300" dirty="0"/>
          </a:p>
        </p:txBody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46311" y="3584448"/>
            <a:ext cx="237744" cy="237744"/>
          </a:xfrm>
          <a:prstGeom prst="rect">
            <a:avLst/>
          </a:prstGeom>
        </p:spPr>
      </p:pic>
      <p:sp>
        <p:nvSpPr>
          <p:cNvPr id="24" name="Shape 18"/>
          <p:cNvSpPr/>
          <p:nvPr/>
        </p:nvSpPr>
        <p:spPr>
          <a:xfrm>
            <a:off x="9628632" y="2651760"/>
            <a:ext cx="1920240" cy="2103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CE6E0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10337292" y="2907792"/>
            <a:ext cx="502920" cy="502920"/>
          </a:xfrm>
          <a:prstGeom prst="ellipse">
            <a:avLst/>
          </a:prstGeom>
          <a:solidFill>
            <a:srgbClr val="E2872F"/>
          </a:solidFill>
          <a:ln/>
        </p:spPr>
      </p:sp>
      <p:sp>
        <p:nvSpPr>
          <p:cNvPr id="26" name="Text 20"/>
          <p:cNvSpPr/>
          <p:nvPr/>
        </p:nvSpPr>
        <p:spPr>
          <a:xfrm>
            <a:off x="10337292" y="29077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27" name="Text 21"/>
          <p:cNvSpPr/>
          <p:nvPr/>
        </p:nvSpPr>
        <p:spPr>
          <a:xfrm>
            <a:off x="9738360" y="3611880"/>
            <a:ext cx="1700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Herhaal tot de module klaar is</a:t>
            </a:r>
            <a:endParaRPr lang="en-US" sz="1300" dirty="0"/>
          </a:p>
        </p:txBody>
      </p:sp>
      <p:sp>
        <p:nvSpPr>
          <p:cNvPr id="28" name="Text 22"/>
          <p:cNvSpPr/>
          <p:nvPr/>
        </p:nvSpPr>
        <p:spPr>
          <a:xfrm>
            <a:off x="640080" y="51206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455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 bouw je rustig op, met steeds één duidelijke taak per scherm.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F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2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VOOR IEDEREEN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Hulp &amp; toegankelijkheid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21208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DCE6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2688" y="2345436"/>
            <a:ext cx="658368" cy="658368"/>
          </a:xfrm>
          <a:prstGeom prst="ellipse">
            <a:avLst/>
          </a:prstGeom>
          <a:solidFill>
            <a:srgbClr val="5B8A6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25100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208483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Help-knop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783080" y="251460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55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Eén tik en de docent krijgt direct een melding tijdens de les.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336792" y="1828800"/>
            <a:ext cx="521208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DCE6E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629400" y="2345436"/>
            <a:ext cx="658368" cy="658368"/>
          </a:xfrm>
          <a:prstGeom prst="ellipse">
            <a:avLst/>
          </a:prstGeom>
          <a:solidFill>
            <a:srgbClr val="5B8A6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3992" y="2510028"/>
            <a:ext cx="329184" cy="32918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479792" y="208483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Voorlezen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7479792" y="251460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55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Elke lesstap kan hardop worden voorgelezen.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40080" y="3840480"/>
            <a:ext cx="521208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DCE6E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932688" y="4357116"/>
            <a:ext cx="658368" cy="658368"/>
          </a:xfrm>
          <a:prstGeom prst="ellipse">
            <a:avLst/>
          </a:prstGeom>
          <a:solidFill>
            <a:srgbClr val="5B8A6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4521708"/>
            <a:ext cx="329184" cy="32918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783080" y="409651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Lettergrootte &amp; contrast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1783080" y="452628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55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Zelf aan te passen, boven in elk scherm.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6336792" y="3840480"/>
            <a:ext cx="521208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DCE6E0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629400" y="4357116"/>
            <a:ext cx="658368" cy="658368"/>
          </a:xfrm>
          <a:prstGeom prst="ellipse">
            <a:avLst/>
          </a:prstGeom>
          <a:solidFill>
            <a:srgbClr val="5B8A63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3992" y="4521708"/>
            <a:ext cx="329184" cy="32918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479792" y="409651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Drie talen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7479792" y="452628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55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Nederlands, Engels of Duits — eigen keuze.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F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2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PRAKTISCH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Praktische afspraken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88136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CE6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96596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Waar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749040" y="196596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Buurthuis Nieuwediep 117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2999232"/>
            <a:ext cx="1088136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CE6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2999232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Wanneer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749040" y="2999232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Deel 1: 30 september 2026     ·     Deel 2: 28 oktober 2026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40080" y="4032504"/>
            <a:ext cx="1088136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CE6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4032504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Meenemen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749040" y="4032504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 laptop, tablet of telefoon — laptop of tablet werkt het makkelijkst, vanwege het grotere scherm.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40080" y="5065776"/>
            <a:ext cx="1088136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CE6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5065776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Inloggegevens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749040" y="5065776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Elke cursist krijgt een eigen gebruikersnaam en wachtwoord.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F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2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ELKAAR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Prettig samen leren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920240"/>
            <a:ext cx="457200" cy="457200"/>
          </a:xfrm>
          <a:prstGeom prst="ellipse">
            <a:avLst/>
          </a:prstGeom>
          <a:solidFill>
            <a:srgbClr val="1C6E76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011680"/>
            <a:ext cx="274320" cy="2743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17320" y="1892808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Rustig aan — iedereen leert in zijn eigen tempo, dat is precies de bedoeling.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731520" y="2880360"/>
            <a:ext cx="457200" cy="457200"/>
          </a:xfrm>
          <a:prstGeom prst="ellipse">
            <a:avLst/>
          </a:prstGeom>
          <a:solidFill>
            <a:srgbClr val="1C6E76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971800"/>
            <a:ext cx="274320" cy="2743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17320" y="2852928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Geen ‘domme vragen’ — als jij het je afvraagt, vraagt een ander het zich ook af.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731520" y="3840480"/>
            <a:ext cx="457200" cy="457200"/>
          </a:xfrm>
          <a:prstGeom prst="ellipse">
            <a:avLst/>
          </a:prstGeom>
          <a:solidFill>
            <a:srgbClr val="1C6E76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931920"/>
            <a:ext cx="274320" cy="27432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417320" y="3813048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 elkaar gerust — samen dingen uitzoeken mag altijd.</a:t>
            </a:r>
            <a:endParaRPr lang="en-US" sz="1700" dirty="0"/>
          </a:p>
        </p:txBody>
      </p:sp>
      <p:sp>
        <p:nvSpPr>
          <p:cNvPr id="13" name="Shape 8"/>
          <p:cNvSpPr/>
          <p:nvPr/>
        </p:nvSpPr>
        <p:spPr>
          <a:xfrm>
            <a:off x="731520" y="4800600"/>
            <a:ext cx="457200" cy="457200"/>
          </a:xfrm>
          <a:prstGeom prst="ellipse">
            <a:avLst/>
          </a:prstGeom>
          <a:solidFill>
            <a:srgbClr val="1C6E76"/>
          </a:solidFill>
          <a:ln/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892040"/>
            <a:ext cx="274320" cy="27432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417320" y="4773168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 je er niet uit? Gebruik de Help-knop — daar is die voor.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3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05856" y="777240"/>
            <a:ext cx="777240" cy="777240"/>
          </a:xfrm>
          <a:prstGeom prst="ellipse">
            <a:avLst/>
          </a:prstGeom>
          <a:solidFill>
            <a:srgbClr val="E2872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61304" y="932688"/>
            <a:ext cx="466344" cy="4663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0" y="1783080"/>
            <a:ext cx="12188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Laten we beginnen!</a:t>
            </a:r>
            <a:endParaRPr lang="en-US" sz="4600" dirty="0"/>
          </a:p>
        </p:txBody>
      </p:sp>
      <p:sp>
        <p:nvSpPr>
          <p:cNvPr id="5" name="Text 2"/>
          <p:cNvSpPr/>
          <p:nvPr/>
        </p:nvSpPr>
        <p:spPr>
          <a:xfrm>
            <a:off x="1371600" y="278892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FC6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in met de gebruikersnaam en het wachtwoord die je hebt gekregen.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4261104" y="3520440"/>
            <a:ext cx="3657600" cy="777240"/>
          </a:xfrm>
          <a:prstGeom prst="roundRect">
            <a:avLst>
              <a:gd name="adj" fmla="val 14118"/>
            </a:avLst>
          </a:prstGeom>
          <a:solidFill>
            <a:srgbClr val="E2872F"/>
          </a:solidFill>
          <a:ln/>
        </p:spPr>
      </p:sp>
      <p:sp>
        <p:nvSpPr>
          <p:cNvPr id="7" name="Text 4"/>
          <p:cNvSpPr/>
          <p:nvPr/>
        </p:nvSpPr>
        <p:spPr>
          <a:xfrm>
            <a:off x="4261104" y="352044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adres in te vullen —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371600" y="466344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8FC6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 je er niet uit? Steek je hand op, of tik op de Help-knop.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2026-08-19T21:58:02Z</dcterms:created>
  <dcterms:modified xsi:type="dcterms:W3CDTF">2026-08-19T21:58:02Z</dcterms:modified>
</cp:coreProperties>
</file>